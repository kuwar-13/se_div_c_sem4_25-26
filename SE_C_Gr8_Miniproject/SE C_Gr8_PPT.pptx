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18"/>
  </p:notesMasterIdLst>
  <p:sldIdLst>
    <p:sldId id="256" r:id="rId2"/>
    <p:sldId id="270" r:id="rId3"/>
    <p:sldId id="258" r:id="rId4"/>
    <p:sldId id="275" r:id="rId5"/>
    <p:sldId id="276" r:id="rId6"/>
    <p:sldId id="266" r:id="rId7"/>
    <p:sldId id="261" r:id="rId8"/>
    <p:sldId id="267" r:id="rId9"/>
    <p:sldId id="262" r:id="rId10"/>
    <p:sldId id="269" r:id="rId11"/>
    <p:sldId id="272" r:id="rId12"/>
    <p:sldId id="277" r:id="rId13"/>
    <p:sldId id="265" r:id="rId14"/>
    <p:sldId id="274" r:id="rId15"/>
    <p:sldId id="268" r:id="rId16"/>
    <p:sldId id="260" r:id="rId17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687015-27FB-47B7-A3C4-C1A2740DDFA6}" v="10" dt="2026-02-12T12:42:50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 autoAdjust="0"/>
    <p:restoredTop sz="94632" autoAdjust="0"/>
  </p:normalViewPr>
  <p:slideViewPr>
    <p:cSldViewPr>
      <p:cViewPr varScale="1">
        <p:scale>
          <a:sx n="71" d="100"/>
          <a:sy n="71" d="100"/>
        </p:scale>
        <p:origin x="1579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C7CDC432-927A-2052-E690-529D5F038DB6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34F58E5-4F23-BBCD-82F5-FAA004DE59D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410C12B-ED54-5D49-DD9F-2F9855DAD7DB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19287E5-1C0F-4DA7-B383-CF47F76461B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ABECD84E-B6A9-BFC5-8559-BDFCD39D3895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10A6B6CF-10F9-B698-E87A-FA67ABCD4AB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28AAD780-07E0-4C0B-BBAE-C6E9E15DD11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DE63E663-7146-3AD5-14C9-88E057A0E0E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268C682-54A3-4483-AA42-7DD03C19423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4DA8BB8-7E6D-138E-F074-5CC916045D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E0E75A48-075B-4BBA-2E1F-C2790D827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>
            <a:extLst>
              <a:ext uri="{FF2B5EF4-FFF2-40B4-BE49-F238E27FC236}">
                <a16:creationId xmlns:a16="http://schemas.microsoft.com/office/drawing/2014/main" id="{0BDFD8E4-0E94-3D4E-9F8C-FDE30B32FF2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4A1D335-C10C-43EA-A3B4-7EA059C3940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11267" name="Rectangle 1">
            <a:extLst>
              <a:ext uri="{FF2B5EF4-FFF2-40B4-BE49-F238E27FC236}">
                <a16:creationId xmlns:a16="http://schemas.microsoft.com/office/drawing/2014/main" id="{CF1C82B3-6808-3343-F4F2-5C01DB6CC7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EE7113F5-881B-04D6-64D4-F8BFF52D4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>
            <a:extLst>
              <a:ext uri="{FF2B5EF4-FFF2-40B4-BE49-F238E27FC236}">
                <a16:creationId xmlns:a16="http://schemas.microsoft.com/office/drawing/2014/main" id="{80FBF9D7-7F1C-F1A2-278F-EE4925567AE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C89833-1D4C-4BD5-B60E-87278ACC76BA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IN" altLang="en-US" sz="1400"/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B1B44C41-9361-D001-5C5A-64AEB35396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EF7A0918-7938-5342-5151-C8CE997DC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>
            <a:extLst>
              <a:ext uri="{FF2B5EF4-FFF2-40B4-BE49-F238E27FC236}">
                <a16:creationId xmlns:a16="http://schemas.microsoft.com/office/drawing/2014/main" id="{4F8B763C-3EB5-9231-C380-9143882D493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C4701A0-5B70-4B63-9317-AB8740A60F4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IN" altLang="en-US" sz="1400"/>
          </a:p>
        </p:txBody>
      </p:sp>
      <p:sp>
        <p:nvSpPr>
          <p:cNvPr id="15363" name="Rectangle 1">
            <a:extLst>
              <a:ext uri="{FF2B5EF4-FFF2-40B4-BE49-F238E27FC236}">
                <a16:creationId xmlns:a16="http://schemas.microsoft.com/office/drawing/2014/main" id="{D1CE1F53-7CA7-417E-7F24-7D3F4A0DBA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594ED038-9064-0F41-B678-92C72929FF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>
            <a:extLst>
              <a:ext uri="{FF2B5EF4-FFF2-40B4-BE49-F238E27FC236}">
                <a16:creationId xmlns:a16="http://schemas.microsoft.com/office/drawing/2014/main" id="{D52125FD-4AA1-2930-872A-9DD37AF9AEF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E7378E-6A43-4AAB-A208-0372032E969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F1CBB2DE-E3E8-CCB5-7B41-0A7FEB9075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C1B48AE7-8C3B-26E8-D9C3-5354369E64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FB674A45-2864-2FBB-5AA0-509B540004E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70C1AE8-1ED5-4BF3-9151-5E40F7580CE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IN" altLang="en-US" sz="1400"/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7B0CC13E-FCF8-39F1-AAD1-E6D4AB0A4E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ECFF121A-4F68-FC9E-25DF-835272DA5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65960ECF-C9BA-775F-E2E0-C0D788D0A0F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EEF7A1D-61A1-44E1-A1FF-06469613627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E3BB4589-0528-4D6A-F70E-75FF609EAE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47DCCC17-74A6-8E8A-71BB-0241D367A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5EA7C747-9E44-D4E7-76EE-16402C98BA3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0C555BB-B894-49CF-A1AB-C815A584E4CF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78EAC043-9208-80D4-A52F-7565AA0AA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3BB93341-11E2-F75C-60FB-5EC924A45F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E9477874-3DAB-EE5C-2C04-8F4D71CBC5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F5CAF0-92B2-4C83-82F8-F8FC8F7D562C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5CB55765-C4BC-EECE-B367-F2D3223543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0CD81114-3CA5-DB6C-DA4E-21B16A981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F5668C2B-E2F1-22CD-3C53-7AEEE890558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24B6156-6208-492A-ABAC-E2BB24064C8F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IN" altLang="en-US" sz="1400"/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FE39937E-DF71-7184-D828-FC02C320F8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7BF3C9FD-46E6-DD61-777E-34D9D38C7E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A3C9780F-89ED-7630-F376-9CFE172ADF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B47551-ACC0-441E-A7C8-9EF0FCA37D55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IN" altLang="en-US" sz="1400"/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2833C492-2140-F3B4-ECF9-89901182DF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74282CA2-0DEB-BA55-EB40-58B8A9D6D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A3BAC800-7F97-5111-61F9-9982CABA995C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27DEA2D-BF6E-9FC4-CCD1-EB4CDBFB67E9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100926E-CE6F-50EA-0630-A8808E309D0D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07696357-BAB3-3E44-2AF9-60EC808943AA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FC46C9D5-8F13-A7C9-B209-4420879FA215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631D7FF8-89E8-A988-0FA3-96B2A8F82800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15D56F83-AC2D-0844-B3C0-52F44A55F0DC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0C0A1B5F-7A75-966F-37A9-1D4BB97849D6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C2D0FDD0-91CB-3290-81A3-B1BDA1BD35C3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8DD6913B-A5C3-AA22-06EB-2E1F70C9F1E5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EFC91A4F-637F-77FA-04B1-6AB311D23B9F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D2D08A7E-8354-B91A-EA6A-55FD3E87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841D9-C966-46E8-8B82-23B3417C3A48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E6C036A-52A8-8EA4-324F-6756E9F0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D282292F-C58E-CDF9-C010-D48CC3E7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78CFD4-2B70-46E7-9FA2-CAC4A501A3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786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70A69-3A39-D9F7-D521-1764E650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F65F3B-9998-446B-B04A-4D10F537DC70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C6F5F-8145-17E7-59B2-03B18A73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842F7-BAE3-0C7A-1819-41465D9F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84259-7157-4363-B86C-7E68C4904B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2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5A122-B793-9757-2E41-F325698D8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410E75-B28A-4F6E-83C3-DDFC3A808CFC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F2FF7-B47F-CBF3-1413-AB96D22CF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2141B-FF9F-BFED-8A26-C8A79F3C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DC597-9BAE-4150-A444-24E9CC3B619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63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E0A764-351D-CB8E-A57C-1E273A83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4F5F44-7824-4483-B3DF-49D16052D74C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1D60E4E-FB3E-9EDE-D2FE-165ADA4E0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B2A13EA-272C-8235-14B5-C0669754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D5D010-5241-4B17-A36F-CC375FA5915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683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0482D5-847F-3108-F5D4-74E0B9B0E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F7BA2-CA95-4526-8FE2-2DEFCB9A2BDB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1495B7-665C-FB29-2221-D8EFB4315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23E221C-CAE2-79D8-9E11-16D003C0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EBA407-FB69-4DE8-AED4-56387955E9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612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6FB55DA-C52E-7EA6-A2AA-2BE148D4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6BC63-33DB-4F6A-8909-AD1AB7ECC200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7A3186C-27C0-263B-3B35-6B701A7C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62BCA29-5723-361A-CA7A-EA3421403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F7FF5-C10C-49C7-9BEF-E6B4C774DA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62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EC14FC9-6207-BFD2-9DD7-6A5ADD1B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CE672-2FE4-45E9-AE66-DCCA8ED7D260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3B16F20-5A4B-D8B7-4BF8-B97E8460F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1B296AC-FEA6-0A99-2001-44F1FD73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F3253A-3E06-426D-B673-C3CE2755ED4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88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69A12F-AAAF-C322-7607-A4A9F340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C65D52-AD07-4EAE-86AF-0B5EC3245CF8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FE4627-959B-9049-5BDF-2A9CC9B9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A7E6FA-93E0-FE58-C140-AE4EB819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4BA8E-DA20-43A5-90C9-0AB844D8DC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612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337F2F-0A61-8C7B-95C2-DEE324480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61BC9D-1C40-43E3-B012-8CE419D59E06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069ED6-F7AF-710B-43FF-5A5B4A61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D0419D-9632-26FA-4C4C-B424B335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0F3E6-7BFA-4257-9916-99FF2A0DCD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1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F9B30-3FE1-9CD7-BBD6-8E18805C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7CD24-8900-42A2-B2A4-587BA082D66A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ABFA6-A9A3-3E7B-CB55-53C024DA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5FCE6-6B38-8FCC-BBC5-64C09F51D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F4BAFA-151A-48E9-9F06-D6ABDE10931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06221C4-FCB3-B0A8-E505-18EA192C1E91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07833-217B-EC26-C8D0-8624C0D52271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9B4D433-2BC3-5A56-A67C-E71E987D8B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FDF24-73F0-49ED-A041-F75AB6C7C09E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970A447-493F-1F09-81C0-E4138AA1FFD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7D7C509-7102-8AC5-6632-B0AF12C720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B20D5-9E0C-4C05-965A-448B56F13D0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1004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C84E8-1505-99C1-070D-4935AE5FF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DC8B77-E52B-4D31-98C0-2E149E687691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6ED56-CF9B-07BF-F9AB-1D34F1579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48758-7DFF-364C-3126-24F54C871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ED1E1F-8767-4C9B-9DD7-1F013A7441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802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470F59-DF03-A3B1-4B36-D29253E3C823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FEBF6C-920E-D79D-233D-4A659283640A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CE236A4-1F2F-0AE1-3252-1588DF935C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44F22-0C14-4C5D-9C7B-71BF3C833EBD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66F409F-76A2-F12B-E1A8-5E54B7410C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B4C2961-B3B4-CAA7-7C55-3B66FED63A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D05D5-A6B4-4260-9281-2B8EF0CB62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563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9DB16-351D-D4C1-03CC-A150DC5138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3B9270-A292-4FAF-BA82-6C7C4B842359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627BC-2D6A-A482-1195-B46A54AB72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9A63-4CAD-81C2-3FEE-6767271F8D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F4F9E-DA03-4B4B-9E0D-D1F5A0FD7D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63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FDF64-3E35-C6CC-4043-5E639706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6354EB-972C-4DEF-8C29-BC0CB7EF0A81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7CB19-FC56-20EB-A3AF-035ABF8F8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EDF6F-372D-BC24-EBCE-B9E0CA709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F550A-0B53-457A-BCBC-5D5A9BBAB0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745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D00F-4D36-C4C0-B28A-E3C95C0EE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161F16-385B-45CD-A6A6-6ABF57368B3B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D5F25-BCBE-D244-6637-EF7F2CDC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8B7C2-5787-50A2-1225-8FAC5E06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7C197-51B5-4B90-98AC-33388029C77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700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9E7ADAF0-ECD0-4F36-8AA5-04463A8E7773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3576897-E120-FCC6-94F1-A0F8F12BA03F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F7EF327-8769-C2A0-7A83-04FDCAD89D8D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2F1B8AB-B5FC-6765-2236-175600136898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D3E08D5-C611-E029-42EF-FACFEB46A3D5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1F01CD8-D063-3828-1D5D-FC3A2D680E09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77A5A82-A153-035C-F87F-C433D959E658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8680719-D450-64FA-C452-81F6B37F88EA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1CFBA47-6DC7-50DB-1F00-57A852DC58F8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DCCED48-C02F-0F25-D789-E9B731D4B9FF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86B67EB3-ACCD-4895-F34D-B1F56F449E2F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DA73355C-0379-5F63-82C7-32D449FA7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0EA6B249-C23C-F17D-94F5-C8364664A7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63446-3F2F-2C42-F816-528CC877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6DD60D3-2B2E-4B52-B392-0B91F1C3B176}" type="datetimeFigureOut">
              <a:rPr lang="en-US"/>
              <a:pPr>
                <a:defRPr/>
              </a:pPr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D8E75-DE83-A726-8BFD-F43B573F9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E0F9A-1A6F-A4D4-7E92-C9FE5E334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5E1E98D8-8D33-45A7-ACCC-2249C7C34D7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9" r:id="rId11"/>
    <p:sldLayoutId id="2147483944" r:id="rId12"/>
    <p:sldLayoutId id="2147483950" r:id="rId13"/>
    <p:sldLayoutId id="2147483945" r:id="rId14"/>
    <p:sldLayoutId id="2147483946" r:id="rId15"/>
    <p:sldLayoutId id="2147483947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dgs.un.org/goals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2030agend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lask.palletsprojects.com/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E6771EF9-4133-87A5-64D8-19C98A70F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0D957BF-FC31-2780-D766-B6807E2738D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8196" name="Picture 3">
            <a:extLst>
              <a:ext uri="{FF2B5EF4-FFF2-40B4-BE49-F238E27FC236}">
                <a16:creationId xmlns:a16="http://schemas.microsoft.com/office/drawing/2014/main" id="{4722E775-6E69-DAFC-D415-C6553A30B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TextBox 1">
            <a:extLst>
              <a:ext uri="{FF2B5EF4-FFF2-40B4-BE49-F238E27FC236}">
                <a16:creationId xmlns:a16="http://schemas.microsoft.com/office/drawing/2014/main" id="{26430672-73AC-3B59-7D12-514FAE185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2916238"/>
            <a:ext cx="8569325" cy="4104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SDGGoals</a:t>
            </a:r>
            <a:r>
              <a:rPr lang="en-US" sz="2400" b="1" dirty="0"/>
              <a:t>16 </a:t>
            </a:r>
            <a:r>
              <a:rPr lang="en-US" sz="2400" b="1" dirty="0" err="1"/>
              <a:t>Peace,Justice</a:t>
            </a:r>
            <a:r>
              <a:rPr lang="en-US" sz="2400" b="1" dirty="0"/>
              <a:t> and Strong Institutions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 Software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 -8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Members- </a:t>
            </a:r>
            <a:r>
              <a:rPr lang="en-IN" sz="2000" b="1" dirty="0"/>
              <a:t>Susheel Yadav, Kuwar Singh, Aditya Sambare, Ayush Singh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Guide- </a:t>
            </a:r>
            <a:r>
              <a:rPr lang="en-IN" sz="2400" b="1" dirty="0"/>
              <a:t>Prof. Priyanka Patil</a:t>
            </a:r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00631B92-213C-1163-1620-30B631439219}"/>
              </a:ext>
            </a:extLst>
          </p:cNvPr>
          <p:cNvSpPr txBox="1">
            <a:spLocks/>
          </p:cNvSpPr>
          <p:nvPr/>
        </p:nvSpPr>
        <p:spPr bwMode="auto">
          <a:xfrm>
            <a:off x="1116013" y="2044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25000" lnSpcReduction="20000"/>
          </a:bodyPr>
          <a:lstStyle>
            <a:lvl1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68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IN" sz="14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 Service Management System</a:t>
            </a:r>
            <a:endParaRPr lang="en-IN" sz="1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">
            <a:extLst>
              <a:ext uri="{FF2B5EF4-FFF2-40B4-BE49-F238E27FC236}">
                <a16:creationId xmlns:a16="http://schemas.microsoft.com/office/drawing/2014/main" id="{2AFE2CF2-37CA-AC47-BB2E-5BFF447A0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80FE3EE-8D07-DDFC-59BA-73F206CA3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990600"/>
            <a:ext cx="9323388" cy="631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076C728F-1C76-C6C6-67CC-315ED4776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163" y="17938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 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7A69F2-5C1D-E295-7EA3-B9487824441D}"/>
              </a:ext>
            </a:extLst>
          </p:cNvPr>
          <p:cNvSpPr txBox="1">
            <a:spLocks/>
          </p:cNvSpPr>
          <p:nvPr/>
        </p:nvSpPr>
        <p:spPr bwMode="auto">
          <a:xfrm>
            <a:off x="412750" y="1259557"/>
            <a:ext cx="9251950" cy="590483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&amp; Importance</a:t>
            </a:r>
          </a:p>
          <a:p>
            <a:pPr marL="0" indent="0" algn="ctr">
              <a:buNone/>
            </a:pPr>
            <a:endParaRPr lang="en-US" sz="2000" dirty="0"/>
          </a:p>
          <a:p>
            <a:r>
              <a:rPr lang="en-US" sz="2400" dirty="0"/>
              <a:t>RO / water purifiers are widely used for safe drinking water.</a:t>
            </a:r>
          </a:p>
          <a:p>
            <a:r>
              <a:rPr lang="en-US" sz="2400" dirty="0"/>
              <a:t>Many small RO providers manage sales and service manually (phone, registers).</a:t>
            </a:r>
          </a:p>
          <a:p>
            <a:r>
              <a:rPr lang="en-US" sz="2400" dirty="0"/>
              <a:t>This causes delays, missing records and confusion between customer, staff and technician.</a:t>
            </a:r>
          </a:p>
          <a:p>
            <a:r>
              <a:rPr lang="en-US" sz="2400" dirty="0"/>
              <a:t>No clear proof of who handled which request and when → weak accountability.</a:t>
            </a:r>
          </a:p>
          <a:p>
            <a:r>
              <a:rPr lang="en-US" sz="2400" dirty="0"/>
              <a:t>Need a simple web‑based system for organized and reliable service.</a:t>
            </a:r>
          </a:p>
          <a:p>
            <a:r>
              <a:rPr lang="en-US" sz="2400" dirty="0"/>
              <a:t>Linked to SDG 16 – Strong Institutions (better processes and records).</a:t>
            </a: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3E019-8FBF-1782-7116-897897999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/>
            </a:br>
            <a:r>
              <a:rPr lang="en-IN" sz="2000" b="1" dirty="0">
                <a:solidFill>
                  <a:schemeClr val="tx1"/>
                </a:solidFill>
              </a:rPr>
              <a:t>(Current Challenges &amp; Motivation)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545C-369C-DE4A-9E8C-924A06F36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2" y="1907628"/>
            <a:ext cx="8473255" cy="4751935"/>
          </a:xfrm>
        </p:spPr>
        <p:txBody>
          <a:bodyPr/>
          <a:lstStyle/>
          <a:p>
            <a:r>
              <a:rPr lang="en-US" dirty="0"/>
              <a:t>Service process is fragmented: phone calls, notebooks, WhatsApp messages.</a:t>
            </a:r>
          </a:p>
          <a:p>
            <a:r>
              <a:rPr lang="en-US" dirty="0"/>
              <a:t>Hard to track service status, technician work and service history.</a:t>
            </a:r>
          </a:p>
          <a:p>
            <a:r>
              <a:rPr lang="en-US" dirty="0"/>
              <a:t>Difficult to resolve disputes because there is no proper record.</a:t>
            </a:r>
          </a:p>
          <a:p>
            <a:r>
              <a:rPr lang="en-US" dirty="0"/>
              <a:t>We observed these issues in real RO service and mini‑project examples.</a:t>
            </a:r>
          </a:p>
          <a:p>
            <a:r>
              <a:rPr lang="en-US" dirty="0"/>
              <a:t>Motivation: build a transparent, trackable RO service system for fairness.</a:t>
            </a:r>
          </a:p>
          <a:p>
            <a:r>
              <a:rPr lang="en-US" dirty="0"/>
              <a:t>Hence selected RO Service Management System mapped to SDG 16.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03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CFF9-A90B-8B57-1D99-6945C7BD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(Proposed Solution &amp; Expected Impact)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03C7F-7B38-F60B-3AFA-2F4DAF8B7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792" y="1979637"/>
            <a:ext cx="9289032" cy="4680519"/>
          </a:xfrm>
        </p:spPr>
        <p:txBody>
          <a:bodyPr/>
          <a:lstStyle/>
          <a:p>
            <a:r>
              <a:rPr lang="en-US" sz="2000" dirty="0"/>
              <a:t>Develop a simple </a:t>
            </a:r>
            <a:r>
              <a:rPr lang="en-US" sz="2000" b="1" dirty="0"/>
              <a:t>web‑based RO Service Management System</a:t>
            </a:r>
            <a:r>
              <a:rPr lang="en-US" sz="2000" dirty="0"/>
              <a:t> for all users.</a:t>
            </a:r>
          </a:p>
          <a:p>
            <a:r>
              <a:rPr lang="en-US" sz="2000" dirty="0"/>
              <a:t>All users </a:t>
            </a:r>
            <a:r>
              <a:rPr lang="en-US" sz="2000" b="1" dirty="0"/>
              <a:t>register and login with a role</a:t>
            </a:r>
            <a:r>
              <a:rPr lang="en-US" sz="2000" dirty="0"/>
              <a:t> (Customer / Staff / Technician / Admin).</a:t>
            </a:r>
          </a:p>
          <a:p>
            <a:r>
              <a:rPr lang="en-US" sz="2000" b="1" dirty="0"/>
              <a:t>Customer:</a:t>
            </a:r>
            <a:r>
              <a:rPr lang="en-US" sz="2000" dirty="0"/>
              <a:t> can view products, raise service/repair requests and track status.</a:t>
            </a:r>
          </a:p>
          <a:p>
            <a:r>
              <a:rPr lang="en-US" sz="2000" b="1" dirty="0"/>
              <a:t>Staff:</a:t>
            </a:r>
            <a:r>
              <a:rPr lang="en-US" sz="2000" dirty="0"/>
              <a:t> manages customer details, sales records and </a:t>
            </a:r>
            <a:r>
              <a:rPr lang="en-US" sz="2000" b="1" dirty="0"/>
              <a:t>assigns requests</a:t>
            </a:r>
            <a:r>
              <a:rPr lang="en-US" sz="2000" dirty="0"/>
              <a:t> to technicians.</a:t>
            </a:r>
          </a:p>
          <a:p>
            <a:r>
              <a:rPr lang="en-US" sz="2000" b="1" dirty="0"/>
              <a:t>Technician:</a:t>
            </a:r>
            <a:r>
              <a:rPr lang="en-US" sz="2000" dirty="0"/>
              <a:t> sees assigned jobs and </a:t>
            </a:r>
            <a:r>
              <a:rPr lang="en-US" sz="2000" b="1" dirty="0"/>
              <a:t>updates service status</a:t>
            </a:r>
            <a:r>
              <a:rPr lang="en-US" sz="2000" dirty="0"/>
              <a:t> after work.</a:t>
            </a:r>
          </a:p>
          <a:p>
            <a:r>
              <a:rPr lang="en-US" sz="2000" b="1" dirty="0"/>
              <a:t>Admin:</a:t>
            </a:r>
            <a:r>
              <a:rPr lang="en-US" sz="2000" dirty="0"/>
              <a:t> monitors all customers, staff, technicians and service status in one place.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483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DBC63716-0765-344C-B119-5BE55EF13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</a:t>
            </a: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CA47E5F-78B1-0ED8-BDDE-C83F2E0E1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defRPr/>
            </a:pPr>
            <a:r>
              <a:rPr lang="en-IN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FB3074-16A2-DA26-9FDD-97492B1FD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762813"/>
              </p:ext>
            </p:extLst>
          </p:nvPr>
        </p:nvGraphicFramePr>
        <p:xfrm>
          <a:off x="575816" y="1563688"/>
          <a:ext cx="7848872" cy="5095085"/>
        </p:xfrm>
        <a:graphic>
          <a:graphicData uri="http://schemas.openxmlformats.org/drawingml/2006/table">
            <a:tbl>
              <a:tblPr/>
              <a:tblGrid>
                <a:gridCol w="2085259">
                  <a:extLst>
                    <a:ext uri="{9D8B030D-6E8A-4147-A177-3AD203B41FA5}">
                      <a16:colId xmlns:a16="http://schemas.microsoft.com/office/drawing/2014/main" val="198027034"/>
                    </a:ext>
                  </a:extLst>
                </a:gridCol>
                <a:gridCol w="2085259">
                  <a:extLst>
                    <a:ext uri="{9D8B030D-6E8A-4147-A177-3AD203B41FA5}">
                      <a16:colId xmlns:a16="http://schemas.microsoft.com/office/drawing/2014/main" val="822159540"/>
                    </a:ext>
                  </a:extLst>
                </a:gridCol>
                <a:gridCol w="2085259">
                  <a:extLst>
                    <a:ext uri="{9D8B030D-6E8A-4147-A177-3AD203B41FA5}">
                      <a16:colId xmlns:a16="http://schemas.microsoft.com/office/drawing/2014/main" val="1773249373"/>
                    </a:ext>
                  </a:extLst>
                </a:gridCol>
                <a:gridCol w="1593095">
                  <a:extLst>
                    <a:ext uri="{9D8B030D-6E8A-4147-A177-3AD203B41FA5}">
                      <a16:colId xmlns:a16="http://schemas.microsoft.com/office/drawing/2014/main" val="813578092"/>
                    </a:ext>
                  </a:extLst>
                </a:gridCol>
              </a:tblGrid>
              <a:tr h="161160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</a:rPr>
                        <a:t>Sr. No.</a:t>
                      </a:r>
                    </a:p>
                  </a:txBody>
                  <a:tcPr marL="18218" marR="36435" marT="9109" marB="9109" anchor="b">
                    <a:lnL w="12700" cap="flat" cmpd="sng" algn="ctr">
                      <a:solidFill>
                        <a:srgbClr val="10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A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A4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</a:rPr>
                        <a:t>Year</a:t>
                      </a:r>
                    </a:p>
                  </a:txBody>
                  <a:tcPr marL="18218" marR="36435" marT="9109" marB="9109" anchor="b">
                    <a:lnL w="12700" cap="flat" cmpd="sng" algn="ctr">
                      <a:solidFill>
                        <a:srgbClr val="70A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A1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D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</a:rPr>
                        <a:t>Title</a:t>
                      </a:r>
                    </a:p>
                  </a:txBody>
                  <a:tcPr marL="18218" marR="36435" marT="9109" marB="9109" anchor="b">
                    <a:lnL w="12700" cap="flat" cmpd="sng" algn="ctr">
                      <a:solidFill>
                        <a:srgbClr val="6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E0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100" b="1">
                          <a:solidFill>
                            <a:srgbClr val="0D0D0D"/>
                          </a:solidFill>
                          <a:effectLst/>
                        </a:rPr>
                        <a:t>Research</a:t>
                      </a:r>
                    </a:p>
                  </a:txBody>
                  <a:tcPr marL="18218" marR="18218" marT="9109" marB="9109" anchor="b">
                    <a:lnL w="12700" cap="flat" cmpd="sng" algn="ctr">
                      <a:solidFill>
                        <a:srgbClr val="9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9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139224"/>
                  </a:ext>
                </a:extLst>
              </a:tr>
              <a:tr h="12837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3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D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E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2025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30D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E0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DA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E6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Smart IoT-Based RO Monitoring System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F0E0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E0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E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effectLst/>
                        </a:rPr>
                        <a:t>This research focuses on using IoT sensors to monitor water quality in real-time and send alerts for maintenance, improving efficiency of RO systems.</a:t>
                      </a:r>
                    </a:p>
                  </a:txBody>
                  <a:tcPr marL="18218" marR="18218" marT="9109" marB="9109" anchor="ctr">
                    <a:lnL w="12700" cap="flat" cmpd="sng" algn="ctr">
                      <a:solidFill>
                        <a:srgbClr val="B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DC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E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630219"/>
                  </a:ext>
                </a:extLst>
              </a:tr>
              <a:tr h="12837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B0E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E6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E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F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2023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30E6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E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E6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0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effectLst/>
                        </a:rPr>
                        <a:t>IoT-Based Predictive Maintenance for Water Purifiers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70E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E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E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F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effectLst/>
                        </a:rPr>
                        <a:t>This study uses AI and IoT to predict faults in RO systems and notify users before failure, reducing downtime and maintenance cost.</a:t>
                      </a:r>
                    </a:p>
                  </a:txBody>
                  <a:tcPr marL="18218" marR="18218" marT="9109" marB="9109" anchor="ctr">
                    <a:lnL w="12700" cap="flat" cmpd="sng" algn="ctr">
                      <a:solidFill>
                        <a:srgbClr val="30E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E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E2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F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01066"/>
                  </a:ext>
                </a:extLst>
              </a:tr>
              <a:tr h="1213582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B0F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0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FF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0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2020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B00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F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00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0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effectLst/>
                        </a:rPr>
                        <a:t>Design and Development of Water Management System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70F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F9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>
                          <a:effectLst/>
                        </a:rPr>
                        <a:t>This paper presents a system for monitoring and managing water systems using basic software and hardware integration.</a:t>
                      </a:r>
                    </a:p>
                  </a:txBody>
                  <a:tcPr marL="18218" marR="18218" marT="9109" marB="9109" anchor="ctr">
                    <a:lnL w="12700" cap="flat" cmpd="sng" algn="ctr">
                      <a:solidFill>
                        <a:srgbClr val="B0F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F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FD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49397"/>
                  </a:ext>
                </a:extLst>
              </a:tr>
              <a:tr h="1143443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B00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0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0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B00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2018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F00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0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008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100">
                          <a:effectLst/>
                        </a:rPr>
                        <a:t>RO Plant Status Monitoring System</a:t>
                      </a:r>
                    </a:p>
                  </a:txBody>
                  <a:tcPr marL="18218" marR="36435" marT="9109" marB="9109" anchor="ctr">
                    <a:lnL w="12700" cap="flat" cmpd="sng" algn="ctr">
                      <a:solidFill>
                        <a:srgbClr val="700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700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100" dirty="0">
                          <a:effectLst/>
                        </a:rPr>
                        <a:t>This research focuses on automation and fault detection in RO plants to improve system reliability and performance.</a:t>
                      </a:r>
                    </a:p>
                  </a:txBody>
                  <a:tcPr marL="18218" marR="18218" marT="9109" marB="9109" anchor="ctr">
                    <a:lnL w="1270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06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569556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A8234784-6B08-B44E-85AE-52EEC0DCE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B474825-0CAF-0ACA-3E92-65733E9FB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TextBox 4">
            <a:extLst>
              <a:ext uri="{FF2B5EF4-FFF2-40B4-BE49-F238E27FC236}">
                <a16:creationId xmlns:a16="http://schemas.microsoft.com/office/drawing/2014/main" id="{5D4FE0F0-6670-4076-5577-C7B30AFEF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1768475"/>
            <a:ext cx="8783637" cy="312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Sales, customer data and service requests are not in one integrated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 real‑time status tracking for customers, staff or technicians.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 history and technician actions are not recorded clearly.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Heavy manual work → data loss, errors and difficulty in resolving disputes.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RO businesses cannot adopt large enterprise CRM tools.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8185-48FB-3C9F-29FA-99B67F60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13" y="671513"/>
            <a:ext cx="7969250" cy="804862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Problem statement and Objectives</a:t>
            </a:r>
            <a:endParaRPr lang="en-IN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07AE8-1211-9B12-83B3-6F019BBFB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1692275"/>
            <a:ext cx="9648948" cy="5616575"/>
          </a:xfrm>
        </p:spPr>
        <p:txBody>
          <a:bodyPr/>
          <a:lstStyle/>
          <a:p>
            <a:pPr marL="342900" indent="-342900"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spc="-150" dirty="0"/>
              <a:t>Problem: RO providers use fragmented, manual methods (calls, paper, Excel) for sales and service.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This leads to slow response, missing records and low transparency.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Need a simple web system that tracks all users (customer/staff/technician/admin) and all actions.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Objective 1: Digitalize RO sales, customer details and service/repair requests.</a:t>
            </a:r>
          </a:p>
          <a:p>
            <a:pPr algn="just"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Objective 2: Provide role‑based access with full history of assignments and status changes.</a:t>
            </a:r>
          </a:p>
          <a:p>
            <a:pPr marL="0" indent="0">
              <a:buNone/>
            </a:pPr>
            <a:endParaRPr lang="en-GB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A79E85A-E03E-9E9B-64DC-2A7A4DF8E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33B8064E-D573-A3FF-86C0-9CDEFEB15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TextBox 2">
            <a:extLst>
              <a:ext uri="{FF2B5EF4-FFF2-40B4-BE49-F238E27FC236}">
                <a16:creationId xmlns:a16="http://schemas.microsoft.com/office/drawing/2014/main" id="{CAFEE0C3-7BCF-0F1F-C57E-5A5C06AF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731963"/>
            <a:ext cx="9431337" cy="62601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Architecture: 3‑tier web app → UI (browser) → Flask app → Relational DB.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User registration with role selection (customer / staff / technician / admin).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User login → system opens role‑specific web page based on role and ID/password.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Database tables: users (with role), customer details, staff/technician details, products, service requests, service history.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r>
              <a:rPr lang="en-US" sz="2000" dirty="0"/>
              <a:t>Main flow:</a:t>
            </a:r>
          </a:p>
          <a:p>
            <a:pPr lvl="1"/>
            <a:r>
              <a:rPr lang="en-US" sz="2000" dirty="0"/>
              <a:t>Customer raises request → Staff assigns technician → Technician updates status → Admin monitors all.</a:t>
            </a:r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0" indent="0" algn="just" defTabSz="914400">
              <a:spcBef>
                <a:spcPct val="20000"/>
              </a:spcBef>
              <a:defRPr/>
            </a:pPr>
            <a:endParaRPr lang="en-IN" sz="2000" dirty="0"/>
          </a:p>
          <a:p>
            <a:pPr algn="just" defTabSz="9144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endParaRPr lang="en-GB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0F63E0-D3E1-20B5-7CC0-E86A823FD495}"/>
              </a:ext>
            </a:extLst>
          </p:cNvPr>
          <p:cNvSpPr txBox="1"/>
          <p:nvPr/>
        </p:nvSpPr>
        <p:spPr>
          <a:xfrm>
            <a:off x="1079500" y="466725"/>
            <a:ext cx="7273925" cy="647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507" name="TextBox 4">
            <a:extLst>
              <a:ext uri="{FF2B5EF4-FFF2-40B4-BE49-F238E27FC236}">
                <a16:creationId xmlns:a16="http://schemas.microsoft.com/office/drawing/2014/main" id="{53581319-68D1-B0B9-E8EE-5E8436E6F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824" y="1619250"/>
            <a:ext cx="8496944" cy="464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Input data: sample customers, staff, technicians, RO products and service requests.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Each request stores: customer, product, assigned technician, dates and current status.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Evaluated: workflow correctness, time to log / assign / close requests, and data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Hardware: normal laptop/PC (≥ 4 GB RAM) with internet / LAN.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Software: HTML, CSS, JavaScript (frontend); Python Flask (backend); SQLite / MySQL DB; VS Code; web browser.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C3ABA53-CC08-5C2B-5A05-90B7DDA2E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FAD46930-5C52-D883-269F-2E2759B1C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2F4E3A-DFF1-AA27-218F-1CBCB833D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3" y="971525"/>
            <a:ext cx="5007532" cy="4892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CB43BD-3CFB-D617-7B65-271E7C7038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8" y="971525"/>
            <a:ext cx="4389885" cy="1956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3DB2D8A-3EC1-FECF-2560-F664769C4B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328" y="2987749"/>
            <a:ext cx="4389886" cy="3463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DCC635-D404-94F5-F741-6ADCC53BCD31}"/>
              </a:ext>
            </a:extLst>
          </p:cNvPr>
          <p:cNvSpPr txBox="1"/>
          <p:nvPr/>
        </p:nvSpPr>
        <p:spPr>
          <a:xfrm>
            <a:off x="132378" y="5995987"/>
            <a:ext cx="50614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New users register with </a:t>
            </a:r>
            <a:r>
              <a:rPr lang="en-US" b="1" i="0" dirty="0">
                <a:effectLst/>
                <a:latin typeface="Inter"/>
              </a:rPr>
              <a:t>basic details and role selection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On login, system checks </a:t>
            </a:r>
            <a:r>
              <a:rPr lang="en-US" b="1" i="0" dirty="0">
                <a:effectLst/>
                <a:latin typeface="Inter"/>
              </a:rPr>
              <a:t>ID, password and role</a:t>
            </a:r>
            <a:r>
              <a:rPr lang="en-US" b="0" i="0" dirty="0">
                <a:effectLst/>
                <a:latin typeface="Inter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Successful login → redirects to </a:t>
            </a:r>
            <a:r>
              <a:rPr lang="en-US" b="1" i="0" dirty="0">
                <a:effectLst/>
                <a:latin typeface="Inter"/>
              </a:rPr>
              <a:t>role‑specific web page</a:t>
            </a:r>
            <a:r>
              <a:rPr lang="en-US" b="0" i="0" dirty="0">
                <a:effectLst/>
                <a:latin typeface="Inter"/>
              </a:rPr>
              <a:t>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897AC-FB80-0A10-E039-6CB176B7C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5B8477-3BB3-F49C-F53C-5E7D0E577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040312" cy="280831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B7D194-4EF6-4E8A-495A-DB7FA4255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1399381"/>
            <a:ext cx="5040312" cy="30377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764B1B-64A5-1FC9-21CD-A24CE581ED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79825"/>
            <a:ext cx="5040312" cy="2808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AF7BDFA-1FF5-8C3B-4FC6-3395990933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4726402"/>
            <a:ext cx="5040312" cy="281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7088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>
            <a:extLst>
              <a:ext uri="{FF2B5EF4-FFF2-40B4-BE49-F238E27FC236}">
                <a16:creationId xmlns:a16="http://schemas.microsoft.com/office/drawing/2014/main" id="{B4D6594F-F54A-5CAB-DB2C-D6D0CAE83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6AE7168-50A6-D383-F33E-263E2B6B1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464B5436-FBBC-2650-660F-1D2C76EB3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92" y="1563688"/>
            <a:ext cx="9070975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Traditional ML metrics (Accuracy, Precision, Recall, RMSE, Confusion Matrix) are </a:t>
            </a:r>
            <a:r>
              <a:rPr lang="en-US" sz="2400" b="1" dirty="0"/>
              <a:t>not applicable</a:t>
            </a:r>
            <a:r>
              <a:rPr lang="en-US" sz="2400" dirty="0"/>
              <a:t> here.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Comparison done between </a:t>
            </a:r>
            <a:r>
              <a:rPr lang="en-US" sz="2400" b="1" dirty="0"/>
              <a:t>manual process</a:t>
            </a:r>
            <a:r>
              <a:rPr lang="en-US" sz="2400" dirty="0"/>
              <a:t> and </a:t>
            </a:r>
            <a:r>
              <a:rPr lang="en-US" sz="2400" b="1" dirty="0"/>
              <a:t>proposed system</a:t>
            </a:r>
            <a:r>
              <a:rPr lang="en-US" sz="2400" dirty="0"/>
              <a:t> on sample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Observations: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Fewer manual steps to </a:t>
            </a:r>
            <a:r>
              <a:rPr lang="en-US" sz="2400" b="1" dirty="0"/>
              <a:t>register and assign</a:t>
            </a:r>
            <a:r>
              <a:rPr lang="en-US" sz="2400" dirty="0"/>
              <a:t> a service request.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No loss of data; </a:t>
            </a:r>
            <a:r>
              <a:rPr lang="en-US" sz="2400" b="1" dirty="0"/>
              <a:t>service history and technician actions</a:t>
            </a:r>
            <a:r>
              <a:rPr lang="en-US" sz="2400" dirty="0"/>
              <a:t> remain stored in DB.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Service process becomes </a:t>
            </a:r>
            <a:r>
              <a:rPr lang="en-US" sz="2400" b="1" dirty="0"/>
              <a:t>faster, more organized and more transparent</a:t>
            </a:r>
            <a:r>
              <a:rPr lang="en-US" sz="2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Helps build a </a:t>
            </a:r>
            <a:r>
              <a:rPr lang="en-US" sz="2400" b="1" dirty="0"/>
              <a:t>strong, accountable service institution</a:t>
            </a:r>
            <a:r>
              <a:rPr lang="en-US" sz="2400" dirty="0"/>
              <a:t>, aligned with </a:t>
            </a:r>
            <a:r>
              <a:rPr lang="en-US" sz="2400" b="1" dirty="0"/>
              <a:t>SDG 16</a:t>
            </a:r>
            <a:r>
              <a:rPr lang="en-US" sz="2400" dirty="0"/>
              <a:t>.</a:t>
            </a:r>
          </a:p>
          <a:p>
            <a:endParaRPr lang="en-US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>
            <a:extLst>
              <a:ext uri="{FF2B5EF4-FFF2-40B4-BE49-F238E27FC236}">
                <a16:creationId xmlns:a16="http://schemas.microsoft.com/office/drawing/2014/main" id="{F082B5B5-0819-6BA1-4656-E50DFAFFB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1B49916-9B3D-DF4B-7146-8BA980AF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3CB838C6-9EBA-52E3-CBAE-38642CE40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792" y="2603901"/>
            <a:ext cx="8926389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a web‑based RO Service Management System with role‑based login (Customer / Staff / Technician / Admin).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Centralized customers, products, staff, technicians and service requests in one database and enabled online booking + status tracking.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Reduced manual work, errors and confusion, making the service process more transparent and accountable (linked to SDG 16).</a:t>
            </a:r>
          </a:p>
          <a:p>
            <a:pPr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/>
              <a:t>Successfully </a:t>
            </a:r>
            <a:r>
              <a:rPr lang="en-US" sz="2000" b="1" dirty="0"/>
              <a:t>deployed on PythonAnywhere</a:t>
            </a:r>
            <a:r>
              <a:rPr lang="en-US" sz="2000" dirty="0"/>
              <a:t> and made it live online.</a:t>
            </a:r>
          </a:p>
          <a:p>
            <a:pPr>
              <a:buFontTx/>
              <a:buChar char="•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FC67505-678C-CD80-2666-59E20D2D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9037FB44-FECF-820E-2F0E-291B63CD5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Content Placeholder 2">
            <a:extLst>
              <a:ext uri="{FF2B5EF4-FFF2-40B4-BE49-F238E27FC236}">
                <a16:creationId xmlns:a16="http://schemas.microsoft.com/office/drawing/2014/main" id="{601AA2F7-AACE-6078-9D91-95FAA0261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768" y="1417979"/>
            <a:ext cx="8677275" cy="560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algn="just"/>
            <a:r>
              <a:rPr lang="en-IN" dirty="0"/>
              <a:t>[1] United Nations, Transforming our world: the 2030 Agenda for Sustainable Development, A/RES/70/1, 2015. [Online]. Available: </a:t>
            </a:r>
            <a:r>
              <a:rPr lang="en-IN" dirty="0">
                <a:hlinkClick r:id="rId3"/>
              </a:rPr>
              <a:t>https://sdgs.un.org/2030agenda</a:t>
            </a:r>
            <a:endParaRPr lang="en-IN" dirty="0"/>
          </a:p>
          <a:p>
            <a:pPr algn="just"/>
            <a:r>
              <a:rPr lang="en-IN" dirty="0"/>
              <a:t>[2] R. T. Rust and P. C. Verhoef, “Optimizing the marketing interventions mix in intermediate-term CRM,” Marketing Science, vol. 24, no. 3, pp. 477–489, 2005. </a:t>
            </a:r>
            <a:r>
              <a:rPr lang="en-IN" dirty="0" err="1"/>
              <a:t>doi</a:t>
            </a:r>
            <a:r>
              <a:rPr lang="en-IN" dirty="0"/>
              <a:t>: 10.1287/mksc.1050.0118</a:t>
            </a:r>
          </a:p>
          <a:p>
            <a:pPr algn="just"/>
            <a:r>
              <a:rPr lang="en-IN" dirty="0"/>
              <a:t>[3] A. K. Tripathy and D. P. Mishra, “Design and implementation of an online complaint management system,” in Proceedings of the International Conference on Computational Intelligence and Communication Networks (CICN), 2016, pp. 560–564. </a:t>
            </a:r>
            <a:r>
              <a:rPr lang="en-IN" dirty="0" err="1"/>
              <a:t>doi</a:t>
            </a:r>
            <a:r>
              <a:rPr lang="en-IN" dirty="0"/>
              <a:t>: 10.1109/CICN.2016.119</a:t>
            </a:r>
          </a:p>
          <a:p>
            <a:pPr algn="just"/>
            <a:r>
              <a:rPr lang="en-IN" dirty="0"/>
              <a:t>[4] S. Niranjan, R. S. Reddy, and K. R. Prasad, “SMS-based automated notification system for service delivery,” in Proceedings of the International Conference on Communication and Signal Processing (ICCSP), 2017, pp. 1700–1704. </a:t>
            </a:r>
            <a:r>
              <a:rPr lang="en-IN" dirty="0" err="1"/>
              <a:t>doi</a:t>
            </a:r>
            <a:r>
              <a:rPr lang="en-IN" dirty="0"/>
              <a:t>: 10.1109/ICCSP.2017.8286640</a:t>
            </a:r>
          </a:p>
          <a:p>
            <a:pPr algn="just"/>
            <a:r>
              <a:rPr lang="en-IN" dirty="0"/>
              <a:t>[5] Pallets Projects, “Flask Documentation,” 2024. [Online]. Available: </a:t>
            </a:r>
            <a:r>
              <a:rPr lang="en-IN" dirty="0">
                <a:hlinkClick r:id="rId4"/>
              </a:rPr>
              <a:t>https://flask.palletsprojects.com/</a:t>
            </a:r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>
            <a:extLst>
              <a:ext uri="{FF2B5EF4-FFF2-40B4-BE49-F238E27FC236}">
                <a16:creationId xmlns:a16="http://schemas.microsoft.com/office/drawing/2014/main" id="{6EA5CB9D-EA6B-8941-A22F-5963D0A30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607</TotalTime>
  <Words>1246</Words>
  <Application>Microsoft Office PowerPoint</Application>
  <PresentationFormat>Custom</PresentationFormat>
  <Paragraphs>129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Inter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Introduction (Current Challenges &amp; Motivation)</vt:lpstr>
      <vt:lpstr>Introduction (Proposed Solution &amp; Expected Impact) </vt:lpstr>
      <vt:lpstr>PowerPoint Presentation</vt:lpstr>
      <vt:lpstr>PowerPoint Presentation</vt:lpstr>
      <vt:lpstr> Problem statement and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shwetaa87790@gmail.com</cp:lastModifiedBy>
  <cp:revision>62</cp:revision>
  <cp:lastPrinted>1601-01-01T00:00:00Z</cp:lastPrinted>
  <dcterms:created xsi:type="dcterms:W3CDTF">2017-10-25T08:22:14Z</dcterms:created>
  <dcterms:modified xsi:type="dcterms:W3CDTF">2026-03-20T07:38:52Z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